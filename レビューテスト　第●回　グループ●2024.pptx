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EE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77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48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468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66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143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27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13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893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887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77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472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979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7371B-C76B-49E2-995B-16BA77F89CF0}" type="datetimeFigureOut">
              <a:rPr kumimoji="1" lang="ja-JP" altLang="en-US" smtClean="0"/>
              <a:t>2024/4/17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7F48B-122C-49DD-A9AB-8C01DEBD9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13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983226"/>
            <a:ext cx="7772400" cy="3126504"/>
          </a:xfrm>
        </p:spPr>
        <p:txBody>
          <a:bodyPr>
            <a:normAutofit/>
          </a:bodyPr>
          <a:lstStyle/>
          <a:p>
            <a:r>
              <a:rPr kumimoji="1" lang="ja-JP" altLang="en-US" sz="5400" dirty="0"/>
              <a:t>行動科学ユニット</a:t>
            </a:r>
            <a:br>
              <a:rPr kumimoji="1" lang="en-US" altLang="ja-JP" sz="5400" dirty="0"/>
            </a:br>
            <a:r>
              <a:rPr kumimoji="1" lang="ja-JP" altLang="en-US" sz="5400" dirty="0"/>
              <a:t>レビューテスト課題</a:t>
            </a:r>
            <a:br>
              <a:rPr kumimoji="1" lang="en-US" altLang="ja-JP" sz="5400" dirty="0"/>
            </a:br>
            <a:r>
              <a:rPr kumimoji="1" lang="ja-JP" altLang="en-US" sz="4000" dirty="0">
                <a:solidFill>
                  <a:srgbClr val="FF0000"/>
                </a:solidFill>
              </a:rPr>
              <a:t>スライドのテンプレート</a:t>
            </a:r>
          </a:p>
        </p:txBody>
      </p:sp>
      <p:sp>
        <p:nvSpPr>
          <p:cNvPr id="5" name="四角形吹き出し 4"/>
          <p:cNvSpPr/>
          <p:nvPr/>
        </p:nvSpPr>
        <p:spPr>
          <a:xfrm>
            <a:off x="1672405" y="4637636"/>
            <a:ext cx="5799190" cy="1488862"/>
          </a:xfrm>
          <a:prstGeom prst="wedgeRectCallout">
            <a:avLst>
              <a:gd name="adj1" fmla="val -39479"/>
              <a:gd name="adj2" fmla="val 12330"/>
            </a:avLst>
          </a:prstGeom>
          <a:solidFill>
            <a:srgbClr val="FFFF9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次のスライドがテンプレートです。</a:t>
            </a:r>
            <a:endParaRPr kumimoji="1"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改変して利用してください。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424063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934065" y="757084"/>
            <a:ext cx="7275872" cy="2554545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Chapter 1</a:t>
            </a:r>
          </a:p>
          <a:p>
            <a:pPr algn="just"/>
            <a:r>
              <a:rPr kumimoji="1" lang="en-US" altLang="ja-JP" sz="2000" dirty="0"/>
              <a:t>1</a:t>
            </a:r>
            <a:r>
              <a:rPr lang="en-US" altLang="ja-JP" sz="2000" dirty="0"/>
              <a:t>. </a:t>
            </a:r>
            <a:r>
              <a:rPr kumimoji="1" lang="en-US" altLang="ja-JP" sz="2000" dirty="0"/>
              <a:t>Parents of a 13-month-old child tell the doctor that …</a:t>
            </a:r>
          </a:p>
          <a:p>
            <a:endParaRPr lang="en-US" altLang="ja-JP" sz="2000" dirty="0"/>
          </a:p>
          <a:p>
            <a:pPr marL="342900" indent="-342900" algn="just">
              <a:buAutoNum type="alphaUcParenBoth"/>
            </a:pPr>
            <a:r>
              <a:rPr kumimoji="1" lang="en-US" altLang="ja-JP" sz="2000" dirty="0"/>
              <a:t>Tell the parents that…</a:t>
            </a:r>
          </a:p>
          <a:p>
            <a:pPr marL="342900" indent="-342900" algn="just">
              <a:buAutoNum type="alphaUcParenBoth"/>
            </a:pPr>
            <a:r>
              <a:rPr lang="en-US" altLang="ja-JP" sz="2000" dirty="0"/>
              <a:t>Contact child…</a:t>
            </a:r>
          </a:p>
          <a:p>
            <a:pPr marL="342900" indent="-342900" algn="just">
              <a:buAutoNum type="alphaUcParenBoth"/>
            </a:pPr>
            <a:r>
              <a:rPr kumimoji="1" lang="en-US" altLang="ja-JP" sz="2000" dirty="0"/>
              <a:t>Reassure…</a:t>
            </a:r>
          </a:p>
          <a:p>
            <a:pPr marL="342900" indent="-342900" algn="just">
              <a:buAutoNum type="alphaUcParenBoth"/>
            </a:pPr>
            <a:r>
              <a:rPr lang="en-US" altLang="ja-JP" sz="2000" dirty="0"/>
              <a:t>Refer…</a:t>
            </a:r>
          </a:p>
          <a:p>
            <a:pPr marL="342900" indent="-342900" algn="just">
              <a:buAutoNum type="alphaUcParenBoth"/>
            </a:pPr>
            <a:r>
              <a:rPr kumimoji="1" lang="en-US" altLang="ja-JP" sz="2000" dirty="0"/>
              <a:t>Evaluate…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34065" y="3590610"/>
            <a:ext cx="7275872" cy="224676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【</a:t>
            </a:r>
            <a:r>
              <a:rPr kumimoji="1" lang="ja-JP" altLang="en-US" sz="2000" dirty="0">
                <a:solidFill>
                  <a:srgbClr val="FF0000"/>
                </a:solidFill>
              </a:rPr>
              <a:t>正答</a:t>
            </a:r>
            <a:r>
              <a:rPr kumimoji="1" lang="en-US" altLang="ja-JP" sz="2000" dirty="0">
                <a:solidFill>
                  <a:srgbClr val="FF0000"/>
                </a:solidFill>
              </a:rPr>
              <a:t>】</a:t>
            </a:r>
            <a:r>
              <a:rPr kumimoji="1" lang="ja-JP" altLang="en-US" sz="2000" dirty="0">
                <a:solidFill>
                  <a:srgbClr val="FF0000"/>
                </a:solidFill>
              </a:rPr>
              <a:t>　</a:t>
            </a:r>
            <a:r>
              <a:rPr kumimoji="1" lang="en-US" altLang="ja-JP" sz="2000" dirty="0"/>
              <a:t>(C)</a:t>
            </a:r>
          </a:p>
          <a:p>
            <a:endParaRPr kumimoji="1" lang="en-US" altLang="ja-JP" sz="2000" dirty="0"/>
          </a:p>
          <a:p>
            <a:r>
              <a:rPr kumimoji="1" lang="en-US" altLang="ja-JP" sz="2000" dirty="0">
                <a:solidFill>
                  <a:srgbClr val="FF0000"/>
                </a:solidFill>
              </a:rPr>
              <a:t>【</a:t>
            </a:r>
            <a:r>
              <a:rPr kumimoji="1" lang="ja-JP" altLang="en-US" sz="2000" dirty="0">
                <a:solidFill>
                  <a:srgbClr val="FF0000"/>
                </a:solidFill>
              </a:rPr>
              <a:t>解説</a:t>
            </a:r>
            <a:r>
              <a:rPr kumimoji="1" lang="en-US" altLang="ja-JP" sz="2000" dirty="0">
                <a:solidFill>
                  <a:srgbClr val="FF0000"/>
                </a:solidFill>
              </a:rPr>
              <a:t>】</a:t>
            </a:r>
          </a:p>
          <a:p>
            <a:pPr algn="just"/>
            <a:r>
              <a:rPr lang="ja-JP" altLang="en-US" sz="2000" dirty="0"/>
              <a:t>この症例は・・・</a:t>
            </a:r>
            <a:endParaRPr lang="en-US" altLang="ja-JP" sz="2000" dirty="0"/>
          </a:p>
          <a:p>
            <a:pPr algn="just"/>
            <a:r>
              <a:rPr kumimoji="1" lang="ja-JP" altLang="en-US" sz="2000" dirty="0"/>
              <a:t>定型的な発達では・・・</a:t>
            </a:r>
            <a:endParaRPr kumimoji="1" lang="en-US" altLang="ja-JP" sz="2000" dirty="0"/>
          </a:p>
          <a:p>
            <a:endParaRPr kumimoji="1" lang="en-US" altLang="ja-JP" sz="2000" dirty="0"/>
          </a:p>
          <a:p>
            <a:r>
              <a:rPr kumimoji="1" lang="en-US" altLang="ja-JP" sz="2000" dirty="0">
                <a:solidFill>
                  <a:srgbClr val="FF0000"/>
                </a:solidFill>
              </a:rPr>
              <a:t>【</a:t>
            </a:r>
            <a:r>
              <a:rPr kumimoji="1" lang="ja-JP" altLang="en-US" sz="2000" dirty="0">
                <a:solidFill>
                  <a:srgbClr val="FF0000"/>
                </a:solidFill>
              </a:rPr>
              <a:t>担当グループ</a:t>
            </a:r>
            <a:r>
              <a:rPr kumimoji="1" lang="en-US" altLang="ja-JP" sz="2000" dirty="0">
                <a:solidFill>
                  <a:srgbClr val="FF0000"/>
                </a:solidFill>
              </a:rPr>
              <a:t>】</a:t>
            </a:r>
            <a:r>
              <a:rPr kumimoji="1" lang="ja-JP" altLang="en-US" sz="2000" dirty="0"/>
              <a:t>　グループ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503391" y="187341"/>
            <a:ext cx="1451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教科書　第</a:t>
            </a:r>
            <a:r>
              <a:rPr kumimoji="1" lang="en-US" altLang="ja-JP" sz="1600" dirty="0"/>
              <a:t>8</a:t>
            </a:r>
            <a:r>
              <a:rPr kumimoji="1" lang="ja-JP" altLang="en-US" sz="1600" dirty="0"/>
              <a:t>版</a:t>
            </a:r>
          </a:p>
        </p:txBody>
      </p:sp>
    </p:spTree>
    <p:extLst>
      <p:ext uri="{BB962C8B-B14F-4D97-AF65-F5344CB8AC3E}">
        <p14:creationId xmlns:p14="http://schemas.microsoft.com/office/powerpoint/2010/main" val="3567127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8650" y="2390571"/>
            <a:ext cx="7886700" cy="1325563"/>
          </a:xfrm>
        </p:spPr>
        <p:txBody>
          <a:bodyPr/>
          <a:lstStyle/>
          <a:p>
            <a:pPr algn="ctr"/>
            <a:r>
              <a:rPr kumimoji="1" lang="ja-JP" altLang="en-US" dirty="0"/>
              <a:t>使い方</a:t>
            </a:r>
          </a:p>
        </p:txBody>
      </p:sp>
    </p:spTree>
    <p:extLst>
      <p:ext uri="{BB962C8B-B14F-4D97-AF65-F5344CB8AC3E}">
        <p14:creationId xmlns:p14="http://schemas.microsoft.com/office/powerpoint/2010/main" val="364552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ボックス 10"/>
          <p:cNvSpPr txBox="1"/>
          <p:nvPr/>
        </p:nvSpPr>
        <p:spPr>
          <a:xfrm>
            <a:off x="934064" y="3590609"/>
            <a:ext cx="7275872" cy="224676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【</a:t>
            </a:r>
            <a:r>
              <a:rPr kumimoji="1" lang="ja-JP" altLang="en-US" sz="2000" dirty="0"/>
              <a:t>正答</a:t>
            </a:r>
            <a:r>
              <a:rPr kumimoji="1" lang="en-US" altLang="ja-JP" sz="2000" dirty="0"/>
              <a:t>】</a:t>
            </a:r>
            <a:r>
              <a:rPr kumimoji="1" lang="ja-JP" altLang="en-US" sz="2000" dirty="0"/>
              <a:t>　</a:t>
            </a:r>
            <a:r>
              <a:rPr kumimoji="1" lang="en-US" altLang="ja-JP" sz="2000" dirty="0"/>
              <a:t>(C)</a:t>
            </a:r>
          </a:p>
          <a:p>
            <a:endParaRPr kumimoji="1" lang="en-US" altLang="ja-JP" sz="2000" dirty="0"/>
          </a:p>
          <a:p>
            <a:r>
              <a:rPr kumimoji="1" lang="en-US" altLang="ja-JP" sz="2000" dirty="0"/>
              <a:t>【</a:t>
            </a:r>
            <a:r>
              <a:rPr kumimoji="1" lang="ja-JP" altLang="en-US" sz="2000" dirty="0"/>
              <a:t>解説</a:t>
            </a:r>
            <a:r>
              <a:rPr kumimoji="1" lang="en-US" altLang="ja-JP" sz="2000" dirty="0"/>
              <a:t>】</a:t>
            </a:r>
          </a:p>
          <a:p>
            <a:r>
              <a:rPr lang="ja-JP" altLang="en-US" sz="2000" dirty="0"/>
              <a:t>この症例は・・・</a:t>
            </a:r>
            <a:endParaRPr lang="en-US" altLang="ja-JP" sz="2000" dirty="0"/>
          </a:p>
          <a:p>
            <a:r>
              <a:rPr kumimoji="1" lang="ja-JP" altLang="en-US" sz="2000" dirty="0"/>
              <a:t>定型的な発達では・・・</a:t>
            </a:r>
            <a:endParaRPr kumimoji="1" lang="en-US" altLang="ja-JP" sz="2000" dirty="0"/>
          </a:p>
          <a:p>
            <a:endParaRPr kumimoji="1" lang="en-US" altLang="ja-JP" sz="2000" dirty="0"/>
          </a:p>
          <a:p>
            <a:r>
              <a:rPr kumimoji="1" lang="en-US" altLang="ja-JP" sz="2000" dirty="0"/>
              <a:t>【</a:t>
            </a:r>
            <a:r>
              <a:rPr kumimoji="1" lang="ja-JP" altLang="en-US" sz="2000" dirty="0"/>
              <a:t>担当グループ</a:t>
            </a:r>
            <a:r>
              <a:rPr kumimoji="1" lang="en-US" altLang="ja-JP" sz="2000" dirty="0"/>
              <a:t>】</a:t>
            </a:r>
            <a:r>
              <a:rPr kumimoji="1" lang="ja-JP" altLang="en-US" sz="2000" dirty="0"/>
              <a:t>　グループ</a:t>
            </a:r>
            <a:r>
              <a:rPr kumimoji="1" lang="en-US" altLang="ja-JP" sz="2000" dirty="0"/>
              <a:t>1</a:t>
            </a:r>
            <a:endParaRPr kumimoji="1" lang="ja-JP" altLang="en-US" sz="2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34065" y="757084"/>
            <a:ext cx="7275872" cy="2554545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Chapter </a:t>
            </a:r>
            <a:r>
              <a:rPr kumimoji="1" lang="en-US" altLang="ja-JP" sz="2000" dirty="0">
                <a:solidFill>
                  <a:srgbClr val="FF0000"/>
                </a:solidFill>
              </a:rPr>
              <a:t>1</a:t>
            </a:r>
          </a:p>
          <a:p>
            <a:r>
              <a:rPr kumimoji="1" lang="en-US" altLang="ja-JP" sz="2000" dirty="0">
                <a:solidFill>
                  <a:srgbClr val="FF0000"/>
                </a:solidFill>
              </a:rPr>
              <a:t>1</a:t>
            </a:r>
            <a:r>
              <a:rPr kumimoji="1" lang="ja-JP" altLang="en-US" sz="2000" dirty="0" err="1">
                <a:solidFill>
                  <a:srgbClr val="FF0000"/>
                </a:solidFill>
              </a:rPr>
              <a:t>．</a:t>
            </a:r>
            <a:r>
              <a:rPr kumimoji="1" lang="en-US" altLang="ja-JP" sz="2000" dirty="0"/>
              <a:t>Parents of a 13-month-old child tell the doctor that …</a:t>
            </a:r>
          </a:p>
          <a:p>
            <a:endParaRPr lang="en-US" altLang="ja-JP" sz="2000" dirty="0"/>
          </a:p>
          <a:p>
            <a:pPr marL="342900" indent="-342900">
              <a:buAutoNum type="alphaUcParenBoth"/>
            </a:pPr>
            <a:r>
              <a:rPr kumimoji="1" lang="en-US" altLang="ja-JP" sz="2000" dirty="0"/>
              <a:t>Tell the parents that…</a:t>
            </a:r>
          </a:p>
          <a:p>
            <a:pPr marL="342900" indent="-342900">
              <a:buAutoNum type="alphaUcParenBoth"/>
            </a:pPr>
            <a:r>
              <a:rPr lang="en-US" altLang="ja-JP" sz="2000" dirty="0"/>
              <a:t>Contact child…</a:t>
            </a:r>
          </a:p>
          <a:p>
            <a:pPr marL="342900" indent="-342900">
              <a:buAutoNum type="alphaUcParenBoth"/>
            </a:pPr>
            <a:r>
              <a:rPr kumimoji="1" lang="en-US" altLang="ja-JP" sz="2000" dirty="0"/>
              <a:t>Reassure…</a:t>
            </a:r>
          </a:p>
          <a:p>
            <a:pPr marL="342900" indent="-342900">
              <a:buAutoNum type="alphaUcParenBoth"/>
            </a:pPr>
            <a:r>
              <a:rPr lang="en-US" altLang="ja-JP" sz="2000" dirty="0"/>
              <a:t>Refer…</a:t>
            </a:r>
          </a:p>
          <a:p>
            <a:pPr marL="342900" indent="-342900">
              <a:buAutoNum type="alphaUcParenBoth"/>
            </a:pPr>
            <a:r>
              <a:rPr kumimoji="1" lang="en-US" altLang="ja-JP" sz="2000" dirty="0"/>
              <a:t>Evaluate…</a:t>
            </a:r>
          </a:p>
        </p:txBody>
      </p:sp>
      <p:sp>
        <p:nvSpPr>
          <p:cNvPr id="3" name="四角形吹き出し 2"/>
          <p:cNvSpPr/>
          <p:nvPr/>
        </p:nvSpPr>
        <p:spPr>
          <a:xfrm>
            <a:off x="5987845" y="1860152"/>
            <a:ext cx="3048000" cy="1060645"/>
          </a:xfrm>
          <a:prstGeom prst="wedgeRectCallout">
            <a:avLst>
              <a:gd name="adj1" fmla="val -53278"/>
              <a:gd name="adj2" fmla="val -89641"/>
            </a:avLst>
          </a:prstGeom>
          <a:solidFill>
            <a:srgbClr val="FFFF9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BRS</a:t>
            </a:r>
            <a:r>
              <a:rPr kumimoji="1" lang="ja-JP" altLang="en-US" sz="1600" dirty="0">
                <a:solidFill>
                  <a:schemeClr val="tx1"/>
                </a:solidFill>
              </a:rPr>
              <a:t>の</a:t>
            </a:r>
            <a:r>
              <a:rPr kumimoji="1" lang="en-US" altLang="ja-JP" sz="1600" dirty="0">
                <a:solidFill>
                  <a:schemeClr val="tx1"/>
                </a:solidFill>
              </a:rPr>
              <a:t>Review Test</a:t>
            </a:r>
            <a:r>
              <a:rPr kumimoji="1" lang="ja-JP" altLang="en-US" sz="1600" dirty="0">
                <a:solidFill>
                  <a:schemeClr val="tx1"/>
                </a:solidFill>
              </a:rPr>
              <a:t>（章末問題）から１問を選び、選択肢まで転記する。</a:t>
            </a:r>
            <a:r>
              <a:rPr kumimoji="1" lang="ja-JP" altLang="en-US" sz="1600" dirty="0">
                <a:solidFill>
                  <a:srgbClr val="FF0000"/>
                </a:solidFill>
              </a:rPr>
              <a:t>省略不可</a:t>
            </a:r>
          </a:p>
        </p:txBody>
      </p:sp>
      <p:sp>
        <p:nvSpPr>
          <p:cNvPr id="6" name="四角形吹き出し 5"/>
          <p:cNvSpPr/>
          <p:nvPr/>
        </p:nvSpPr>
        <p:spPr>
          <a:xfrm>
            <a:off x="2610463" y="478103"/>
            <a:ext cx="3377381" cy="530322"/>
          </a:xfrm>
          <a:prstGeom prst="wedgeRectCallout">
            <a:avLst>
              <a:gd name="adj1" fmla="val -65098"/>
              <a:gd name="adj2" fmla="val 45702"/>
            </a:avLst>
          </a:prstGeom>
          <a:solidFill>
            <a:srgbClr val="FFFF9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Chapter</a:t>
            </a:r>
            <a:r>
              <a:rPr kumimoji="1" lang="ja-JP" altLang="en-US" sz="1600" dirty="0">
                <a:solidFill>
                  <a:schemeClr val="tx1"/>
                </a:solidFill>
              </a:rPr>
              <a:t>番号と問題番号を忘れずに</a:t>
            </a:r>
          </a:p>
        </p:txBody>
      </p:sp>
      <p:sp>
        <p:nvSpPr>
          <p:cNvPr id="9" name="四角形吹き出し 8"/>
          <p:cNvSpPr/>
          <p:nvPr/>
        </p:nvSpPr>
        <p:spPr>
          <a:xfrm>
            <a:off x="4572000" y="4606482"/>
            <a:ext cx="4036141" cy="1230896"/>
          </a:xfrm>
          <a:prstGeom prst="wedgeRectCallout">
            <a:avLst>
              <a:gd name="adj1" fmla="val -67670"/>
              <a:gd name="adj2" fmla="val -14207"/>
            </a:avLst>
          </a:prstGeom>
          <a:solidFill>
            <a:srgbClr val="FFFF9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dirty="0">
                <a:solidFill>
                  <a:schemeClr val="tx1"/>
                </a:solidFill>
              </a:rPr>
              <a:t>正答と解説を和文で述べる。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解説は </a:t>
            </a:r>
            <a:r>
              <a:rPr kumimoji="1" lang="en-US" altLang="ja-JP" sz="1600" dirty="0">
                <a:solidFill>
                  <a:schemeClr val="tx1"/>
                </a:solidFill>
              </a:rPr>
              <a:t>Answers and Explanations </a:t>
            </a:r>
            <a:r>
              <a:rPr kumimoji="1" lang="ja-JP" altLang="en-US" sz="1600" dirty="0">
                <a:solidFill>
                  <a:schemeClr val="tx1"/>
                </a:solidFill>
              </a:rPr>
              <a:t>ページから翻訳しただけでも</a:t>
            </a:r>
            <a:r>
              <a:rPr kumimoji="1" lang="en-US" altLang="ja-JP" sz="1600" dirty="0">
                <a:solidFill>
                  <a:schemeClr val="tx1"/>
                </a:solidFill>
              </a:rPr>
              <a:t>OK</a:t>
            </a:r>
            <a:r>
              <a:rPr kumimoji="1" lang="ja-JP" altLang="en-US" sz="1600" dirty="0">
                <a:solidFill>
                  <a:schemeClr val="tx1"/>
                </a:solidFill>
              </a:rPr>
              <a:t>だが、聴衆の理解が難しそうなら詳しく説明する</a:t>
            </a:r>
          </a:p>
        </p:txBody>
      </p:sp>
      <p:sp>
        <p:nvSpPr>
          <p:cNvPr id="12" name="四角形吹き出し 11"/>
          <p:cNvSpPr/>
          <p:nvPr/>
        </p:nvSpPr>
        <p:spPr>
          <a:xfrm>
            <a:off x="6135330" y="3053297"/>
            <a:ext cx="2802194" cy="1110060"/>
          </a:xfrm>
          <a:prstGeom prst="wedgeRectCallout">
            <a:avLst>
              <a:gd name="adj1" fmla="val -33366"/>
              <a:gd name="adj2" fmla="val 21782"/>
            </a:avLst>
          </a:prstGeom>
          <a:solidFill>
            <a:srgbClr val="FFFF9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dirty="0">
                <a:solidFill>
                  <a:schemeClr val="tx1"/>
                </a:solidFill>
              </a:rPr>
              <a:t>文字を小さくしすぎないこと！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１枚に収まらないときは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600" dirty="0">
                <a:solidFill>
                  <a:schemeClr val="tx1"/>
                </a:solidFill>
              </a:rPr>
              <a:t>２枚目へ延長して</a:t>
            </a:r>
            <a:r>
              <a:rPr kumimoji="1" lang="en-US" altLang="ja-JP" sz="1600" dirty="0">
                <a:solidFill>
                  <a:schemeClr val="tx1"/>
                </a:solidFill>
              </a:rPr>
              <a:t>OK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四角形吹き出し 12"/>
          <p:cNvSpPr/>
          <p:nvPr/>
        </p:nvSpPr>
        <p:spPr>
          <a:xfrm>
            <a:off x="2517057" y="6043779"/>
            <a:ext cx="2860075" cy="661822"/>
          </a:xfrm>
          <a:prstGeom prst="wedgeRectCallout">
            <a:avLst>
              <a:gd name="adj1" fmla="val -33366"/>
              <a:gd name="adj2" fmla="val 21782"/>
            </a:avLst>
          </a:prstGeom>
          <a:solidFill>
            <a:srgbClr val="FFFF9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必要なら図表を入れても</a:t>
            </a:r>
            <a:r>
              <a:rPr kumimoji="1" lang="en-US" altLang="ja-JP" sz="1600" dirty="0">
                <a:solidFill>
                  <a:schemeClr val="tx1"/>
                </a:solidFill>
              </a:rPr>
              <a:t>OK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四角形吹き出し 9"/>
          <p:cNvSpPr/>
          <p:nvPr/>
        </p:nvSpPr>
        <p:spPr>
          <a:xfrm>
            <a:off x="5770881" y="6043779"/>
            <a:ext cx="2763520" cy="661822"/>
          </a:xfrm>
          <a:prstGeom prst="wedgeRectCallout">
            <a:avLst>
              <a:gd name="adj1" fmla="val -33366"/>
              <a:gd name="adj2" fmla="val 21782"/>
            </a:avLst>
          </a:prstGeom>
          <a:solidFill>
            <a:srgbClr val="FF000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bg1"/>
                </a:solidFill>
              </a:rPr>
              <a:t>講義時間内に収めるため</a:t>
            </a:r>
            <a:endParaRPr kumimoji="1" lang="en-US" altLang="ja-JP" sz="1600" dirty="0">
              <a:solidFill>
                <a:schemeClr val="bg1"/>
              </a:solidFill>
            </a:endParaRPr>
          </a:p>
          <a:p>
            <a:pPr algn="ctr"/>
            <a:r>
              <a:rPr kumimoji="1" lang="en-US" altLang="ja-JP" sz="1600" dirty="0">
                <a:solidFill>
                  <a:schemeClr val="bg1"/>
                </a:solidFill>
              </a:rPr>
              <a:t>1</a:t>
            </a:r>
            <a:r>
              <a:rPr kumimoji="1" lang="ja-JP" altLang="en-US" sz="1600" dirty="0">
                <a:solidFill>
                  <a:schemeClr val="bg1"/>
                </a:solidFill>
              </a:rPr>
              <a:t>題</a:t>
            </a:r>
            <a:r>
              <a:rPr kumimoji="1" lang="en-US" altLang="ja-JP" sz="1600" dirty="0">
                <a:solidFill>
                  <a:schemeClr val="bg1"/>
                </a:solidFill>
              </a:rPr>
              <a:t>2</a:t>
            </a:r>
            <a:r>
              <a:rPr kumimoji="1" lang="ja-JP" altLang="en-US" sz="1600" dirty="0">
                <a:solidFill>
                  <a:schemeClr val="bg1"/>
                </a:solidFill>
              </a:rPr>
              <a:t>分で発表してください！</a:t>
            </a: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388370" y="181351"/>
            <a:ext cx="1091966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/>
              <a:t>使い方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503391" y="187341"/>
            <a:ext cx="1451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教科書　</a:t>
            </a:r>
            <a:r>
              <a:rPr kumimoji="1" lang="ja-JP" altLang="en-US" sz="1600" dirty="0">
                <a:solidFill>
                  <a:srgbClr val="FF0000"/>
                </a:solidFill>
              </a:rPr>
              <a:t>第</a:t>
            </a:r>
            <a:r>
              <a:rPr kumimoji="1" lang="en-US" altLang="ja-JP" sz="1600" dirty="0">
                <a:solidFill>
                  <a:srgbClr val="FF0000"/>
                </a:solidFill>
              </a:rPr>
              <a:t>8</a:t>
            </a:r>
            <a:r>
              <a:rPr kumimoji="1" lang="ja-JP" altLang="en-US" sz="1600" dirty="0">
                <a:solidFill>
                  <a:srgbClr val="FF0000"/>
                </a:solidFill>
              </a:rPr>
              <a:t>版</a:t>
            </a:r>
          </a:p>
        </p:txBody>
      </p:sp>
      <p:sp>
        <p:nvSpPr>
          <p:cNvPr id="15" name="四角形吹き出し 14"/>
          <p:cNvSpPr/>
          <p:nvPr/>
        </p:nvSpPr>
        <p:spPr>
          <a:xfrm>
            <a:off x="6964643" y="886705"/>
            <a:ext cx="2027701" cy="530322"/>
          </a:xfrm>
          <a:prstGeom prst="wedgeRectCallout">
            <a:avLst>
              <a:gd name="adj1" fmla="val -18903"/>
              <a:gd name="adj2" fmla="val -119993"/>
            </a:avLst>
          </a:prstGeom>
          <a:solidFill>
            <a:srgbClr val="FFFF9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dirty="0">
                <a:solidFill>
                  <a:schemeClr val="tx1"/>
                </a:solidFill>
              </a:rPr>
              <a:t>教科書</a:t>
            </a:r>
            <a:r>
              <a:rPr lang="ja-JP" altLang="en-US" sz="1600" dirty="0">
                <a:solidFill>
                  <a:schemeClr val="tx1"/>
                </a:solidFill>
              </a:rPr>
              <a:t>は第</a:t>
            </a:r>
            <a:r>
              <a:rPr lang="en-US" altLang="ja-JP" sz="1600" dirty="0">
                <a:solidFill>
                  <a:schemeClr val="tx1"/>
                </a:solidFill>
              </a:rPr>
              <a:t>8</a:t>
            </a:r>
            <a:r>
              <a:rPr kumimoji="1" lang="ja-JP" altLang="en-US" sz="1600" dirty="0">
                <a:solidFill>
                  <a:schemeClr val="tx1"/>
                </a:solidFill>
              </a:rPr>
              <a:t>版使用する</a:t>
            </a:r>
          </a:p>
        </p:txBody>
      </p:sp>
    </p:spTree>
    <p:extLst>
      <p:ext uri="{BB962C8B-B14F-4D97-AF65-F5344CB8AC3E}">
        <p14:creationId xmlns:p14="http://schemas.microsoft.com/office/powerpoint/2010/main" val="1309399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テンプレート使用の際のお願い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2556387"/>
            <a:ext cx="7886700" cy="3620576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>
                <a:solidFill>
                  <a:srgbClr val="FF0000"/>
                </a:solidFill>
              </a:rPr>
              <a:t>スライドのサイズを変えないでください</a:t>
            </a:r>
            <a:endParaRPr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sz="2400"/>
          </a:p>
          <a:p>
            <a:pPr marL="0" indent="0">
              <a:buNone/>
            </a:pPr>
            <a:r>
              <a:rPr lang="ja-JP" altLang="en-US" sz="2400"/>
              <a:t>今回</a:t>
            </a:r>
            <a:r>
              <a:rPr lang="ja-JP" altLang="en-US" sz="2400" dirty="0"/>
              <a:t>のスライドは　</a:t>
            </a:r>
            <a:r>
              <a:rPr lang="en-US" altLang="ja-JP" sz="2400" dirty="0"/>
              <a:t>【</a:t>
            </a:r>
            <a:r>
              <a:rPr lang="ja-JP" altLang="en-US" sz="2400" dirty="0"/>
              <a:t>標準</a:t>
            </a:r>
            <a:r>
              <a:rPr lang="en-US" altLang="ja-JP" sz="2400" dirty="0"/>
              <a:t>】</a:t>
            </a:r>
            <a:r>
              <a:rPr lang="ja-JP" altLang="en-US" sz="2400" dirty="0"/>
              <a:t>（縦横比</a:t>
            </a:r>
            <a:r>
              <a:rPr lang="en-US" altLang="ja-JP" sz="2400" dirty="0"/>
              <a:t>=</a:t>
            </a:r>
            <a:r>
              <a:rPr lang="ja-JP" altLang="en-US" sz="2400" dirty="0"/>
              <a:t>４：３）になっています。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いまの世の中の発表の場面で、スクリーンは大体４：３です。</a:t>
            </a:r>
            <a:endParaRPr lang="en-US" altLang="ja-JP" sz="2400" dirty="0"/>
          </a:p>
          <a:p>
            <a:pPr marL="0" indent="0">
              <a:buNone/>
            </a:pPr>
            <a:r>
              <a:rPr kumimoji="1" lang="ja-JP" altLang="en-US" sz="2400" dirty="0"/>
              <a:t>縦横比を変えると投影時に文字が小さくなり、後方座席の人が眠くなります。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24576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389</TotalTime>
  <Words>312</Words>
  <Application>Microsoft Office PowerPoint</Application>
  <PresentationFormat>画面に合わせる (4:3)</PresentationFormat>
  <Paragraphs>54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テーマ</vt:lpstr>
      <vt:lpstr>行動科学ユニット レビューテスト課題 スライドのテンプレート</vt:lpstr>
      <vt:lpstr>PowerPoint プレゼンテーション</vt:lpstr>
      <vt:lpstr>使い方</vt:lpstr>
      <vt:lpstr>PowerPoint プレゼンテーション</vt:lpstr>
      <vt:lpstr>テンプレート使用の際のお願い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cs</dc:creator>
  <cp:lastModifiedBy>Motohisa Hirose</cp:lastModifiedBy>
  <cp:revision>33</cp:revision>
  <dcterms:created xsi:type="dcterms:W3CDTF">2018-08-27T07:19:07Z</dcterms:created>
  <dcterms:modified xsi:type="dcterms:W3CDTF">2024-04-17T03:11:56Z</dcterms:modified>
</cp:coreProperties>
</file>